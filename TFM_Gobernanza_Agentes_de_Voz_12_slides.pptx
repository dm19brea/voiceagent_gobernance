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30" kern="0" dirty="0">
                <a:solidFill>
                  <a:srgbClr val="6F8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VOICEAGENT GOVERNANCE · TFM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365760"/>
            <a:ext cx="-2286000" cy="5897880"/>
          </a:xfrm>
          <a:prstGeom prst="line">
            <a:avLst/>
          </a:prstGeom>
          <a:noFill/>
          <a:ln w="8890">
            <a:solidFill>
              <a:srgbClr val="183D5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8394192" y="365760"/>
            <a:ext cx="-2267712" cy="5897880"/>
          </a:xfrm>
          <a:prstGeom prst="line">
            <a:avLst/>
          </a:prstGeom>
          <a:noFill/>
          <a:ln w="8890">
            <a:solidFill>
              <a:srgbClr val="24405C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8833104" y="365760"/>
            <a:ext cx="-2249424" cy="5897880"/>
          </a:xfrm>
          <a:prstGeom prst="line">
            <a:avLst/>
          </a:prstGeom>
          <a:noFill/>
          <a:ln w="8890">
            <a:solidFill>
              <a:srgbClr val="183D5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272016" y="365760"/>
            <a:ext cx="-2231136" cy="5897880"/>
          </a:xfrm>
          <a:prstGeom prst="line">
            <a:avLst/>
          </a:prstGeom>
          <a:noFill/>
          <a:ln w="8890">
            <a:solidFill>
              <a:srgbClr val="24405C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710928" y="365760"/>
            <a:ext cx="-2212848" cy="5897880"/>
          </a:xfrm>
          <a:prstGeom prst="line">
            <a:avLst/>
          </a:prstGeom>
          <a:noFill/>
          <a:ln w="8890">
            <a:solidFill>
              <a:srgbClr val="183D57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149840" y="365760"/>
            <a:ext cx="-2194560" cy="5897880"/>
          </a:xfrm>
          <a:prstGeom prst="line">
            <a:avLst/>
          </a:prstGeom>
          <a:noFill/>
          <a:ln w="8890">
            <a:solidFill>
              <a:srgbClr val="24405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588752" y="365760"/>
            <a:ext cx="-2176272" cy="5897880"/>
          </a:xfrm>
          <a:prstGeom prst="line">
            <a:avLst/>
          </a:prstGeom>
          <a:noFill/>
          <a:ln w="8890">
            <a:solidFill>
              <a:srgbClr val="183D5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1027664" y="365760"/>
            <a:ext cx="-2157984" cy="5897880"/>
          </a:xfrm>
          <a:prstGeom prst="line">
            <a:avLst/>
          </a:prstGeom>
          <a:noFill/>
          <a:ln w="8890">
            <a:solidFill>
              <a:srgbClr val="24405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rot="900000">
            <a:off x="7406640" y="1051560"/>
            <a:ext cx="3749040" cy="3749040"/>
          </a:xfrm>
          <a:prstGeom prst="arc">
            <a:avLst/>
          </a:prstGeom>
          <a:solidFill>
            <a:srgbClr val="07111F">
              <a:alpha val="0"/>
            </a:srgbClr>
          </a:solidFill>
          <a:ln w="38100">
            <a:solidFill>
              <a:srgbClr val="35D0FF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600000">
            <a:off x="7973568" y="1627632"/>
            <a:ext cx="2606040" cy="2606040"/>
          </a:xfrm>
          <a:prstGeom prst="arc">
            <a:avLst/>
          </a:prstGeom>
          <a:solidFill>
            <a:srgbClr val="07111F">
              <a:alpha val="0"/>
            </a:srgbClr>
          </a:solidFill>
          <a:ln w="88900">
            <a:solidFill>
              <a:srgbClr val="7A68FF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2615184"/>
            <a:ext cx="713232" cy="713232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261518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" y="603504"/>
            <a:ext cx="1508760" cy="256032"/>
          </a:xfrm>
          <a:prstGeom prst="roundRect">
            <a:avLst>
              <a:gd name="adj" fmla="val 42857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60350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1234440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de Gobernanza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Agentes de Voz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07792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evento original a una evaluación reproducible, auditable y explicable.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4041648"/>
            <a:ext cx="5943600" cy="1115568"/>
          </a:xfrm>
          <a:prstGeom prst="roundRect">
            <a:avLst>
              <a:gd name="adj" fmla="val 9836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7024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TFM · MVP funcional validado en escenarios acotados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645152"/>
            <a:ext cx="5468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Vapi · FastAPI · PostgreSQL · Redis · Celery · Next.js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338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F8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académica · 12 diapositivas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EL PROBLEMA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llamada no es una auditoría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Gobernar exige reconstruir qué ocurrió, por qué se concluyó y con qué criterio.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9164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AISLADA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2487168"/>
            <a:ext cx="566928" cy="566928"/>
          </a:xfrm>
          <a:prstGeom prst="ellipse">
            <a:avLst/>
          </a:prstGeom>
          <a:solidFill>
            <a:srgbClr val="FF6B78"/>
          </a:solidFill>
          <a:ln w="12700">
            <a:solidFill>
              <a:srgbClr val="FF6B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♫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2505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Grabación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234440" y="3218688"/>
            <a:ext cx="2286000" cy="0"/>
          </a:xfrm>
          <a:prstGeom prst="line">
            <a:avLst/>
          </a:prstGeom>
          <a:noFill/>
          <a:ln w="16510">
            <a:solidFill>
              <a:srgbClr val="24405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960120" y="3566160"/>
            <a:ext cx="566928" cy="566928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35844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Transcripción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720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explican por sí solas la secuencia, la causalidad ni la regla de decisión.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3246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5074920" y="1691640"/>
            <a:ext cx="6473952" cy="4160520"/>
          </a:xfrm>
          <a:prstGeom prst="roundRect">
            <a:avLst>
              <a:gd name="adj" fmla="val 2637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9202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REPRODUCIBLE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40680" y="2487168"/>
            <a:ext cx="347472" cy="347472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61888" y="24505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temporal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73568" y="2459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Hechos ordenados por sesión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3182112"/>
            <a:ext cx="347472" cy="347472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61888" y="314553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Procedencia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73568" y="31546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Conclusiones enlazadas a eventos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40680" y="3877056"/>
            <a:ext cx="347472" cy="347472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61888" y="384048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explícitos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73568" y="38496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Métricas, pesos y flags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4572000"/>
            <a:ext cx="347472" cy="347472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40680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61888" y="453542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independiente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73568" y="45445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fuera del proveedor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13248" y="5358384"/>
            <a:ext cx="5577840" cy="292608"/>
          </a:xfrm>
          <a:prstGeom prst="roundRect">
            <a:avLst>
              <a:gd name="adj" fmla="val 37500"/>
            </a:avLst>
          </a:prstGeom>
          <a:solidFill>
            <a:srgbClr val="13304A"/>
          </a:solidFill>
          <a:ln w="12700">
            <a:solidFill>
              <a:srgbClr val="1330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59552" y="53583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convertir comportamiento en evidencia auditable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LA PROPUESTA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ciclo completo de gobernanza por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→ ingesta → traza → evidencias → evaluación → consulta.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verificado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12264" y="2249424"/>
            <a:ext cx="237744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 autenticado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14216" y="2249424"/>
            <a:ext cx="237744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06824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4E7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16552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16552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+ canónica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16168" y="2249424"/>
            <a:ext cx="237744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08776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4E7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18504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+ procedencia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18120" y="2249424"/>
            <a:ext cx="237744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10728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7A68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0456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+ flags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20072" y="2249424"/>
            <a:ext cx="237744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1783080"/>
            <a:ext cx="1591056" cy="932688"/>
          </a:xfrm>
          <a:prstGeom prst="roundRect">
            <a:avLst>
              <a:gd name="adj" fmla="val 11765"/>
            </a:avLst>
          </a:prstGeom>
          <a:solidFill>
            <a:srgbClr val="102238"/>
          </a:solidFill>
          <a:ln w="19050">
            <a:solidFill>
              <a:srgbClr val="7A68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22408" y="1883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122408" y="217627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+ API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3154680"/>
            <a:ext cx="10991088" cy="2331720"/>
          </a:xfrm>
          <a:prstGeom prst="roundRect">
            <a:avLst>
              <a:gd name="adj" fmla="val 4706"/>
            </a:avLst>
          </a:prstGeom>
          <a:solidFill>
            <a:srgbClr val="0D1A2A"/>
          </a:solidFill>
          <a:ln w="17780">
            <a:solidFill>
              <a:srgbClr val="39D9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30" kern="0" dirty="0">
                <a:solidFill>
                  <a:srgbClr val="39D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60520" y="3822192"/>
            <a:ext cx="0" cy="1344168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3822192"/>
            <a:ext cx="0" cy="1344168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3995928"/>
            <a:ext cx="384048" cy="384048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3941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verificable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417320" y="437083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Agentes, sesiones y eventos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995928"/>
            <a:ext cx="384048" cy="384048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348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4983480" y="3941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reproducible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4983480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 y scoring determinista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001000" y="3995928"/>
            <a:ext cx="384048" cy="384048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010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549640" y="39410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consultable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549640" y="4370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en vivo, histórico e informes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94360" y="58338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observa y evalúa; no ejecuta ni modifica al agente.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ARQUITECTURA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de dominio independiente, adaptadores intercambiables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hexagonal/Clean con PostgreSQL como fuente de verdad y CQRS ligero.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97510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Vapi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267712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1325880" cy="658368"/>
          </a:xfrm>
          <a:prstGeom prst="roundRect">
            <a:avLst>
              <a:gd name="adj" fmla="val 16667"/>
            </a:avLst>
          </a:prstGeom>
          <a:solidFill>
            <a:srgbClr val="102238"/>
          </a:solidFill>
          <a:ln w="19050">
            <a:solidFill>
              <a:srgbClr val="7A68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" y="3255264"/>
            <a:ext cx="1106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547872"/>
            <a:ext cx="1106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2404872"/>
            <a:ext cx="1463040" cy="868680"/>
          </a:xfrm>
          <a:prstGeom prst="roundRect">
            <a:avLst>
              <a:gd name="adj" fmla="val 12632"/>
            </a:avLst>
          </a:prstGeom>
          <a:solidFill>
            <a:srgbClr val="102238"/>
          </a:solidFill>
          <a:ln w="19050">
            <a:solidFill>
              <a:srgbClr val="4E7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0008" y="250545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/ WS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350008" y="2798064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Adaptadores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60520" y="1627632"/>
            <a:ext cx="3822192" cy="3246120"/>
          </a:xfrm>
          <a:prstGeom prst="roundRect">
            <a:avLst>
              <a:gd name="adj" fmla="val 3380"/>
            </a:avLst>
          </a:prstGeom>
          <a:solidFill>
            <a:srgbClr val="0A1625"/>
          </a:solidFill>
          <a:ln w="22860">
            <a:solidFill>
              <a:srgbClr val="35D0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856232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7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81728" y="2304288"/>
            <a:ext cx="2788920" cy="603504"/>
          </a:xfrm>
          <a:prstGeom prst="roundRect">
            <a:avLst>
              <a:gd name="adj" fmla="val 18182"/>
            </a:avLst>
          </a:prstGeom>
          <a:solidFill>
            <a:srgbClr val="102238"/>
          </a:solidFill>
          <a:ln w="19050">
            <a:solidFill>
              <a:srgbClr val="4E7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91456" y="240487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91456" y="2697480"/>
            <a:ext cx="2569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de uso + puertos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3182112"/>
            <a:ext cx="2788920" cy="859536"/>
          </a:xfrm>
          <a:prstGeom prst="roundRect">
            <a:avLst>
              <a:gd name="adj" fmla="val 12766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91456" y="328269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Dominio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91456" y="3575304"/>
            <a:ext cx="2569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· Event · Evidence · Scoring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85632" y="1755648"/>
            <a:ext cx="1783080" cy="713232"/>
          </a:xfrm>
          <a:prstGeom prst="roundRect">
            <a:avLst>
              <a:gd name="adj" fmla="val 15385"/>
            </a:avLst>
          </a:prstGeom>
          <a:solidFill>
            <a:srgbClr val="102238"/>
          </a:solidFill>
          <a:ln w="19050">
            <a:solidFill>
              <a:srgbClr val="39D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185623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14884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 de verdad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485632" y="2761488"/>
            <a:ext cx="1783080" cy="713232"/>
          </a:xfrm>
          <a:prstGeom prst="roundRect">
            <a:avLst>
              <a:gd name="adj" fmla="val 15385"/>
            </a:avLst>
          </a:prstGeom>
          <a:solidFill>
            <a:srgbClr val="102238"/>
          </a:solidFill>
          <a:ln w="19050">
            <a:solidFill>
              <a:srgbClr val="FFBE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286207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15468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efímero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85632" y="3767328"/>
            <a:ext cx="1783080" cy="713232"/>
          </a:xfrm>
          <a:prstGeom prst="roundRect">
            <a:avLst>
              <a:gd name="adj" fmla="val 15385"/>
            </a:avLst>
          </a:prstGeom>
          <a:solidFill>
            <a:srgbClr val="102238"/>
          </a:solidFill>
          <a:ln w="19050">
            <a:solidFill>
              <a:srgbClr val="7A6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95360" y="3867912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Celery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595360" y="4160520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Post-procesado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561320" y="3767328"/>
            <a:ext cx="1078992" cy="713232"/>
          </a:xfrm>
          <a:prstGeom prst="roundRect">
            <a:avLst>
              <a:gd name="adj" fmla="val 15385"/>
            </a:avLst>
          </a:prstGeom>
          <a:solidFill>
            <a:srgbClr val="102238"/>
          </a:solidFill>
          <a:ln w="19050">
            <a:solidFill>
              <a:srgbClr val="FF6B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97896" y="39410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28800" y="2212848"/>
            <a:ext cx="411480" cy="484632"/>
          </a:xfrm>
          <a:prstGeom prst="line">
            <a:avLst/>
          </a:prstGeom>
          <a:noFill/>
          <a:ln w="2286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792224" y="3483864"/>
            <a:ext cx="1179576" cy="0"/>
          </a:xfrm>
          <a:prstGeom prst="line">
            <a:avLst/>
          </a:prstGeom>
          <a:noFill/>
          <a:ln w="22860">
            <a:solidFill>
              <a:srgbClr val="7A68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3246120"/>
            <a:ext cx="0" cy="237744"/>
          </a:xfrm>
          <a:prstGeom prst="line">
            <a:avLst/>
          </a:prstGeom>
          <a:noFill/>
          <a:ln w="22860">
            <a:solidFill>
              <a:srgbClr val="7A68FF"/>
            </a:solidFill>
            <a:prstDash val="solid"/>
            <a:headEnd type="triangle"/>
          </a:ln>
        </p:spPr>
      </p:sp>
      <p:sp>
        <p:nvSpPr>
          <p:cNvPr id="36" name="Shape 34"/>
          <p:cNvSpPr/>
          <p:nvPr/>
        </p:nvSpPr>
        <p:spPr>
          <a:xfrm>
            <a:off x="3703320" y="2834640"/>
            <a:ext cx="457200" cy="0"/>
          </a:xfrm>
          <a:prstGeom prst="line">
            <a:avLst/>
          </a:prstGeom>
          <a:noFill/>
          <a:ln w="25400">
            <a:solidFill>
              <a:srgbClr val="4E7CF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82712" y="2331720"/>
            <a:ext cx="502920" cy="-228600"/>
          </a:xfrm>
          <a:prstGeom prst="line">
            <a:avLst/>
          </a:prstGeom>
          <a:noFill/>
          <a:ln w="22860">
            <a:solidFill>
              <a:srgbClr val="39D98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982712" y="3063240"/>
            <a:ext cx="502920" cy="45720"/>
          </a:xfrm>
          <a:prstGeom prst="line">
            <a:avLst/>
          </a:prstGeom>
          <a:noFill/>
          <a:ln w="19050">
            <a:solidFill>
              <a:srgbClr val="FFBE55"/>
            </a:solidFill>
            <a:prstDash val="dash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982712" y="3794760"/>
            <a:ext cx="502920" cy="320040"/>
          </a:xfrm>
          <a:prstGeom prst="line">
            <a:avLst/>
          </a:prstGeom>
          <a:noFill/>
          <a:ln w="19050">
            <a:solidFill>
              <a:srgbClr val="7A68FF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268712" y="4114800"/>
            <a:ext cx="292608" cy="0"/>
          </a:xfrm>
          <a:prstGeom prst="line">
            <a:avLst/>
          </a:prstGeom>
          <a:noFill/>
          <a:ln w="16510">
            <a:solidFill>
              <a:srgbClr val="FF6B78"/>
            </a:solidFill>
            <a:prstDash val="dash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417320" y="5285232"/>
            <a:ext cx="9372600" cy="429768"/>
          </a:xfrm>
          <a:prstGeom prst="roundRect">
            <a:avLst>
              <a:gd name="adj" fmla="val 25532"/>
            </a:avLst>
          </a:prstGeom>
          <a:solidFill>
            <a:srgbClr val="1022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00200" y="5294376"/>
            <a:ext cx="9006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arquitectónica: el dominio NO importa FastAPI, SQLAlchemy, Redis, Celery, HTTPX ni Vapi.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FLUJO FUNCIONAL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llamada al informe, sin bloquear la ingesta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evaluación es posterior y depende de un encolado Celery best effort.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64792"/>
            <a:ext cx="658368" cy="658368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01752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70432" y="2093976"/>
            <a:ext cx="905256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48840" y="1764792"/>
            <a:ext cx="658368" cy="658368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48840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947672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16352" y="2093976"/>
            <a:ext cx="914400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03904" y="1764792"/>
            <a:ext cx="658368" cy="658368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02736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71416" y="2093976"/>
            <a:ext cx="914400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58968" y="1764792"/>
            <a:ext cx="658368" cy="658368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58968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093976"/>
            <a:ext cx="914400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14032" y="1764792"/>
            <a:ext cx="658368" cy="658368"/>
          </a:xfrm>
          <a:prstGeom prst="ellipse">
            <a:avLst/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14032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12864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Celery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81544" y="2093976"/>
            <a:ext cx="914400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69096" y="1764792"/>
            <a:ext cx="658368" cy="658368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69096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67928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OpenRouter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36608" y="2093976"/>
            <a:ext cx="914400" cy="0"/>
          </a:xfrm>
          <a:prstGeom prst="line">
            <a:avLst/>
          </a:prstGeom>
          <a:noFill/>
          <a:ln w="19050">
            <a:solidFill>
              <a:srgbClr val="24405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424160" y="1764792"/>
            <a:ext cx="658368" cy="658368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24160" y="17647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222992" y="25146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7744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</a:t>
            </a:r>
            <a:endParaRPr lang="en-US" sz="1220" dirty="0"/>
          </a:p>
        </p:txBody>
      </p:sp>
      <p:sp>
        <p:nvSpPr>
          <p:cNvPr id="35" name="Text 33"/>
          <p:cNvSpPr txBox="1"/>
          <p:nvPr/>
        </p:nvSpPr>
        <p:spPr>
          <a:xfrm>
            <a:off x="237744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de llamada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478024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0512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883664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Ingesta</a:t>
            </a:r>
            <a:endParaRPr lang="en-US" sz="1220" dirty="0"/>
          </a:p>
        </p:txBody>
      </p:sp>
      <p:sp>
        <p:nvSpPr>
          <p:cNvPr id="39" name="Text 37"/>
          <p:cNvSpPr txBox="1"/>
          <p:nvPr/>
        </p:nvSpPr>
        <p:spPr>
          <a:xfrm>
            <a:off x="1883664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 y traduce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133088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65576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38728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220" dirty="0"/>
          </a:p>
        </p:txBody>
      </p:sp>
      <p:sp>
        <p:nvSpPr>
          <p:cNvPr id="43" name="Text 41"/>
          <p:cNvSpPr txBox="1"/>
          <p:nvPr/>
        </p:nvSpPr>
        <p:spPr>
          <a:xfrm>
            <a:off x="3538728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+ canónico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788152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20640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93792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real</a:t>
            </a:r>
            <a:endParaRPr lang="en-US" sz="1220" dirty="0"/>
          </a:p>
        </p:txBody>
      </p:sp>
      <p:sp>
        <p:nvSpPr>
          <p:cNvPr id="47" name="Text 45"/>
          <p:cNvSpPr txBox="1"/>
          <p:nvPr/>
        </p:nvSpPr>
        <p:spPr>
          <a:xfrm>
            <a:off x="5193792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efímero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7443216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75704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48856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7A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220" dirty="0"/>
          </a:p>
        </p:txBody>
      </p:sp>
      <p:sp>
        <p:nvSpPr>
          <p:cNvPr id="51" name="Text 49"/>
          <p:cNvSpPr txBox="1"/>
          <p:nvPr/>
        </p:nvSpPr>
        <p:spPr>
          <a:xfrm>
            <a:off x="6848856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 + score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9098280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30768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503920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</a:t>
            </a:r>
            <a:endParaRPr lang="en-US" sz="1220" dirty="0"/>
          </a:p>
        </p:txBody>
      </p:sp>
      <p:sp>
        <p:nvSpPr>
          <p:cNvPr id="55" name="Text 53"/>
          <p:cNvSpPr txBox="1"/>
          <p:nvPr/>
        </p:nvSpPr>
        <p:spPr>
          <a:xfrm>
            <a:off x="850392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Juez opcional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10753344" y="2798064"/>
            <a:ext cx="0" cy="329184"/>
          </a:xfrm>
          <a:prstGeom prst="line">
            <a:avLst/>
          </a:prstGeom>
          <a:noFill/>
          <a:ln w="15240">
            <a:solidFill>
              <a:srgbClr val="24405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85832" y="3127248"/>
            <a:ext cx="1335024" cy="1152144"/>
          </a:xfrm>
          <a:prstGeom prst="roundRect">
            <a:avLst>
              <a:gd name="adj" fmla="val 9524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158984" y="32918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1220" dirty="0"/>
          </a:p>
        </p:txBody>
      </p:sp>
      <p:sp>
        <p:nvSpPr>
          <p:cNvPr id="59" name="Text 57"/>
          <p:cNvSpPr txBox="1"/>
          <p:nvPr/>
        </p:nvSpPr>
        <p:spPr>
          <a:xfrm>
            <a:off x="10158984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Histórico + informe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TRAZABILIDAD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el hecho original de la interpretación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conserva los eventos que sustentan cada conclusión.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2971800" cy="4160520"/>
          </a:xfrm>
          <a:prstGeom prst="roundRect">
            <a:avLst>
              <a:gd name="adj" fmla="val 3692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B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EVENTO ORIGINAL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317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RawEvent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8892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Payload completo recibido de Vapi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7033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E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Conservación antes de interpretación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" y="5047488"/>
            <a:ext cx="841248" cy="256032"/>
          </a:xfrm>
          <a:prstGeom prst="roundRect">
            <a:avLst>
              <a:gd name="adj" fmla="val 42857"/>
            </a:avLst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50474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47872" y="3703320"/>
            <a:ext cx="548640" cy="0"/>
          </a:xfrm>
          <a:prstGeom prst="line">
            <a:avLst/>
          </a:prstGeom>
          <a:noFill/>
          <a:ln w="25400">
            <a:solidFill>
              <a:srgbClr val="35D0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96512" y="1691640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102238"/>
          </a:solidFill>
          <a:ln w="19050">
            <a:solidFill>
              <a:srgbClr val="35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19385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EVENTO CANÓNICO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3317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normalizado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370832" y="2898648"/>
            <a:ext cx="2286000" cy="256032"/>
          </a:xfrm>
          <a:prstGeom prst="roundRect">
            <a:avLst>
              <a:gd name="adj" fmla="val 42857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0832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ocurrió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70832" y="3319272"/>
            <a:ext cx="2286000" cy="256032"/>
          </a:xfrm>
          <a:prstGeom prst="roundRect">
            <a:avLst>
              <a:gd name="adj" fmla="val 42857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0832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intervino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70832" y="3739896"/>
            <a:ext cx="2286000" cy="256032"/>
          </a:xfrm>
          <a:prstGeom prst="roundRect">
            <a:avLst>
              <a:gd name="adj" fmla="val 42857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3739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en la sesión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70832" y="4160520"/>
            <a:ext cx="2286000" cy="256032"/>
          </a:xfrm>
          <a:prstGeom prst="roundRect">
            <a:avLst>
              <a:gd name="adj" fmla="val 42857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70832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Momento exacto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70832" y="4581144"/>
            <a:ext cx="2286000" cy="256032"/>
          </a:xfrm>
          <a:prstGeom prst="roundRect">
            <a:avLst>
              <a:gd name="adj" fmla="val 42857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70832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relevantes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42632" y="3703320"/>
            <a:ext cx="548640" cy="0"/>
          </a:xfrm>
          <a:prstGeom prst="line">
            <a:avLst/>
          </a:prstGeom>
          <a:noFill/>
          <a:ln w="25400">
            <a:solidFill>
              <a:srgbClr val="7A68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891272" y="1691640"/>
            <a:ext cx="3657600" cy="4160520"/>
          </a:xfrm>
          <a:prstGeom prst="roundRect">
            <a:avLst>
              <a:gd name="adj" fmla="val 3000"/>
            </a:avLst>
          </a:prstGeom>
          <a:solidFill>
            <a:srgbClr val="0D1A2A"/>
          </a:solidFill>
          <a:ln w="19050">
            <a:solidFill>
              <a:srgbClr val="7A68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65592" y="19385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7A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EVIDENCIA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165592" y="2331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165592" y="28346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+ conclusión + dimensión + valor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65592" y="3493008"/>
            <a:ext cx="2788920" cy="1042416"/>
          </a:xfrm>
          <a:prstGeom prst="roundRect">
            <a:avLst>
              <a:gd name="adj" fmla="val 10526"/>
            </a:avLst>
          </a:prstGeom>
          <a:solidFill>
            <a:srgbClr val="191736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57616" y="3639312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spc="90" kern="0" dirty="0">
                <a:solidFill>
                  <a:srgbClr val="7A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 QUE LA SUSTENTAN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8348472" y="4014216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8472" y="4014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01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62288" y="4014216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62288" y="4014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02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976104" y="4014216"/>
            <a:ext cx="713232" cy="256032"/>
          </a:xfrm>
          <a:prstGeom prst="roundRect">
            <a:avLst>
              <a:gd name="adj" fmla="val 42857"/>
            </a:avLst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76104" y="4014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 03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211312" y="4745736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conclusión se puede rastrear hasta los eventos que la justifican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EVALUACIÓN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regla clara para aprobar o suspender una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sesión aprueba solo si alcanza 75 puntos y no presenta alertas críticas.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657600" cy="4370832"/>
          </a:xfrm>
          <a:prstGeom prst="roundRect">
            <a:avLst>
              <a:gd name="adj" fmla="val 3000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110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DECISIÓN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591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spc="20" kern="0" dirty="0">
                <a:solidFill>
                  <a:srgbClr val="39D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PUNTOS O MÁS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53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alertas críticas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1248" y="3547872"/>
            <a:ext cx="2788920" cy="2066544"/>
          </a:xfrm>
          <a:prstGeom prst="roundRect">
            <a:avLst>
              <a:gd name="adj" fmla="val 5310"/>
            </a:avLst>
          </a:prstGeom>
          <a:solidFill>
            <a:srgbClr val="101E2D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374904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9D9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359152" y="37490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21992" y="3685032"/>
            <a:ext cx="0" cy="1764792"/>
          </a:xfrm>
          <a:prstGeom prst="line">
            <a:avLst/>
          </a:prstGeom>
          <a:noFill/>
          <a:ln w="16510">
            <a:solidFill>
              <a:srgbClr val="2440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9264" y="4279392"/>
            <a:ext cx="1078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Puntuación suficiente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sin alertas críticas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2359152" y="4160520"/>
            <a:ext cx="1097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Menos de 75 puntos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 sesión no terminó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cumplió el objetivo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Quedó un error pendiente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498848" y="1664208"/>
            <a:ext cx="7050024" cy="4370832"/>
          </a:xfrm>
          <a:prstGeom prst="roundRect">
            <a:avLst>
              <a:gd name="adj" fmla="val 2510"/>
            </a:avLst>
          </a:prstGeom>
          <a:solidFill>
            <a:srgbClr val="1022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19110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3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COMPONE LA PUNTUACIÓN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26700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688336"/>
            <a:ext cx="3840480" cy="201168"/>
          </a:xfrm>
          <a:prstGeom prst="rect">
            <a:avLst>
              <a:gd name="adj" fmla="val 54545"/>
            </a:avLst>
          </a:prstGeom>
          <a:solidFill>
            <a:srgbClr val="152438"/>
          </a:solidFill>
          <a:ln w="12700">
            <a:solidFill>
              <a:srgbClr val="1524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688336"/>
            <a:ext cx="3364992" cy="201168"/>
          </a:xfrm>
          <a:prstGeom prst="rect">
            <a:avLst>
              <a:gd name="adj" fmla="val 54545"/>
            </a:avLst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32720" y="26700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82312" y="35295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09360" y="3547872"/>
            <a:ext cx="3840480" cy="201168"/>
          </a:xfrm>
          <a:prstGeom prst="rect">
            <a:avLst>
              <a:gd name="adj" fmla="val 54545"/>
            </a:avLst>
          </a:prstGeom>
          <a:solidFill>
            <a:srgbClr val="152438"/>
          </a:solidFill>
          <a:ln w="12700">
            <a:solidFill>
              <a:srgbClr val="1524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547872"/>
            <a:ext cx="2523744" cy="201168"/>
          </a:xfrm>
          <a:prstGeom prst="rect">
            <a:avLst>
              <a:gd name="adj" fmla="val 54545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332720" y="352958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82312" y="43891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407408"/>
            <a:ext cx="3840480" cy="201168"/>
          </a:xfrm>
          <a:prstGeom prst="rect">
            <a:avLst>
              <a:gd name="adj" fmla="val 54545"/>
            </a:avLst>
          </a:prstGeom>
          <a:solidFill>
            <a:srgbClr val="152438"/>
          </a:solidFill>
          <a:ln w="12700">
            <a:solidFill>
              <a:srgbClr val="1524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407408"/>
            <a:ext cx="1682496" cy="201168"/>
          </a:xfrm>
          <a:prstGeom prst="rect">
            <a:avLst>
              <a:gd name="adj" fmla="val 54545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32720" y="43891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E7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73168" y="5230368"/>
            <a:ext cx="6172200" cy="420624"/>
          </a:xfrm>
          <a:prstGeom prst="roundRect">
            <a:avLst>
              <a:gd name="adj" fmla="val 26087"/>
            </a:avLst>
          </a:prstGeom>
          <a:solidFill>
            <a:srgbClr val="153047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56048" y="5239512"/>
            <a:ext cx="5806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combina puntuación y alertas críticas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EXPERIENCIA OPERATIVA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estado en vivo a la auditoría de una sesión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dashboard concentra operación, histórico, transcripción y resultados.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10991088" cy="4498848"/>
          </a:xfrm>
          <a:prstGeom prst="roundRect">
            <a:avLst>
              <a:gd name="adj" fmla="val 2439"/>
            </a:avLst>
          </a:prstGeom>
          <a:solidFill>
            <a:srgbClr val="0A1523"/>
          </a:solidFill>
          <a:ln w="12700">
            <a:solidFill>
              <a:srgbClr val="24405C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00200"/>
            <a:ext cx="10991088" cy="493776"/>
          </a:xfrm>
          <a:prstGeom prst="rect">
            <a:avLst>
              <a:gd name="adj" fmla="val 22222"/>
            </a:avLst>
          </a:prstGeom>
          <a:solidFill>
            <a:srgbClr val="102238"/>
          </a:solidFill>
          <a:ln w="12700">
            <a:solidFill>
              <a:srgbClr val="10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55648"/>
            <a:ext cx="146304" cy="146304"/>
          </a:xfrm>
          <a:prstGeom prst="ellipse">
            <a:avLst/>
          </a:prstGeom>
          <a:solidFill>
            <a:srgbClr val="FF6B78"/>
          </a:solidFill>
          <a:ln w="12700">
            <a:solidFill>
              <a:srgbClr val="FF6B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1755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9" name="Shape 7"/>
          <p:cNvSpPr/>
          <p:nvPr/>
        </p:nvSpPr>
        <p:spPr>
          <a:xfrm>
            <a:off x="1024128" y="1755648"/>
            <a:ext cx="146304" cy="146304"/>
          </a:xfrm>
          <a:prstGeom prst="ellipse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24128" y="1755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1" name="Shape 9"/>
          <p:cNvSpPr/>
          <p:nvPr/>
        </p:nvSpPr>
        <p:spPr>
          <a:xfrm>
            <a:off x="1261872" y="1755648"/>
            <a:ext cx="146304" cy="146304"/>
          </a:xfrm>
          <a:prstGeom prst="ellipse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61872" y="1755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VoiceAgent Governance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2359152"/>
            <a:ext cx="2194560" cy="3328416"/>
          </a:xfrm>
          <a:prstGeom prst="roundRect">
            <a:avLst>
              <a:gd name="adj" fmla="val 5000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257860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F8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0976" y="2999232"/>
            <a:ext cx="1901952" cy="393192"/>
          </a:xfrm>
          <a:prstGeom prst="roundRect">
            <a:avLst>
              <a:gd name="adj" fmla="val 27907"/>
            </a:avLst>
          </a:prstGeom>
          <a:solidFill>
            <a:srgbClr val="13304A"/>
          </a:solidFill>
          <a:ln w="12700">
            <a:solidFill>
              <a:srgbClr val="1330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15568" y="30449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Sesiones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61188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41788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en vivo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73552" y="2359152"/>
            <a:ext cx="5074920" cy="3328416"/>
          </a:xfrm>
          <a:prstGeom prst="roundRect">
            <a:avLst>
              <a:gd name="adj" fmla="val 3297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7872" y="2587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Sesión · call_019f…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78040" y="2587752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25877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3127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6F8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TRANSCRIPCIÓN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47872" y="3456432"/>
            <a:ext cx="3611880" cy="475488"/>
          </a:xfrm>
          <a:prstGeom prst="roundRect">
            <a:avLst>
              <a:gd name="adj" fmla="val 23077"/>
            </a:avLst>
          </a:prstGeom>
          <a:solidFill>
            <a:srgbClr val="102238"/>
          </a:solidFill>
          <a:ln w="12700">
            <a:solidFill>
              <a:srgbClr val="1022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30752" y="354787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· Quiero cancelar mi cita…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87952" y="4096512"/>
            <a:ext cx="3794760" cy="475488"/>
          </a:xfrm>
          <a:prstGeom prst="roundRect">
            <a:avLst>
              <a:gd name="adj" fmla="val 23077"/>
            </a:avLst>
          </a:prstGeom>
          <a:solidFill>
            <a:srgbClr val="13304A"/>
          </a:solidFill>
          <a:ln w="12700">
            <a:solidFill>
              <a:srgbClr val="1330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70832" y="418795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· De acuerdo, la cancelo…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50017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Señales: silencio · interrupción · objetivo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613648" y="2359152"/>
            <a:ext cx="2670048" cy="3328416"/>
          </a:xfrm>
          <a:prstGeom prst="roundRect">
            <a:avLst>
              <a:gd name="adj" fmla="val 4110"/>
            </a:avLst>
          </a:prstGeom>
          <a:solidFill>
            <a:srgbClr val="0D1A2A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87968" y="2606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6F82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GLOBAL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372600" y="3054096"/>
            <a:ext cx="1700784" cy="1700784"/>
          </a:xfrm>
          <a:prstGeom prst="ellipse">
            <a:avLst/>
          </a:prstGeom>
          <a:solidFill>
            <a:srgbClr val="12334B"/>
          </a:solidFill>
          <a:ln w="12700">
            <a:solidFill>
              <a:srgbClr val="1233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72600" y="3054096"/>
            <a:ext cx="170078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87,90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915400" y="5010912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Conversacional  100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5294376"/>
            <a:ext cx="2057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Técnica             45,5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566928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960120"/>
            <a:ext cx="77266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Gobernar es convertir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en evidencia.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450592"/>
            <a:ext cx="6784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demuestra un ciclo reproducible para observar, explicar y evaluar sesiones de voz sin acoplar la lógica de gobierno al proveedor.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3822192"/>
            <a:ext cx="502920" cy="502920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3794760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41239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+ canónica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54096" y="3822192"/>
            <a:ext cx="502920" cy="502920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12464" y="3794760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712464" y="41239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+ procedencia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49824" y="3822192"/>
            <a:ext cx="502920" cy="502920"/>
          </a:xfrm>
          <a:prstGeom prst="ellipse">
            <a:avLst/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9824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3794760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6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08192" y="412394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+ flags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75320" y="932688"/>
            <a:ext cx="2944368" cy="4498848"/>
          </a:xfrm>
          <a:prstGeom prst="roundRect">
            <a:avLst>
              <a:gd name="adj" fmla="val 3727"/>
            </a:avLst>
          </a:prstGeom>
          <a:solidFill>
            <a:srgbClr val="102238"/>
          </a:solidFill>
          <a:ln w="20320">
            <a:solidFill>
              <a:srgbClr val="35D0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13648" y="1261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APORTACIÓN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71432" y="1847088"/>
            <a:ext cx="1170432" cy="1170432"/>
          </a:xfrm>
          <a:prstGeom prst="ellipse">
            <a:avLst/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1432" y="1847088"/>
            <a:ext cx="1170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3300" dirty="0"/>
          </a:p>
        </p:txBody>
      </p:sp>
      <p:sp>
        <p:nvSpPr>
          <p:cNvPr id="21" name="Text 19"/>
          <p:cNvSpPr txBox="1"/>
          <p:nvPr/>
        </p:nvSpPr>
        <p:spPr>
          <a:xfrm>
            <a:off x="8650224" y="3246120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funcional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650224" y="3685032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validado 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escenarios acotados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23960" y="4736592"/>
            <a:ext cx="1874520" cy="256032"/>
          </a:xfrm>
          <a:prstGeom prst="roundRect">
            <a:avLst>
              <a:gd name="adj" fmla="val 42857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23960" y="473659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ACOTADA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PRÓXIMOS TRABAJOS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seguir mejorando el MVP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612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de evolución que amplían la fiabilidad, la capacidad de análisis y la escalabilidad.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700784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856232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562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184708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Procesamiento garantizado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30552" y="21854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Automatizar la recuperación y el seguimiento de evaluaciones.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00784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35D0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856232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85623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08392" y="1847088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más completa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08392" y="21854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Ampliar los indicadores disponibles para cada sesión.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054096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4E7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209544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0954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130552" y="32004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reforzada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30552" y="35387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Incorporar controles adicionales de acceso y sesión.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054096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7A6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209544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7A68FF"/>
          </a:solidFill>
          <a:ln w="12700">
            <a:solidFill>
              <a:srgbClr val="7A68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20954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708392" y="3200400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 de extremo a extremo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08392" y="353872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Recorrer visualmente informe, métricas, evidencias y eventos.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4407408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35D0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62856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35D0FF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5628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2130552" y="45537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Comparación entre versiones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130552" y="4892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Analizar cómo mejora cada agente a lo largo del tiempo.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4407408"/>
            <a:ext cx="5349240" cy="1069848"/>
          </a:xfrm>
          <a:prstGeom prst="roundRect">
            <a:avLst>
              <a:gd name="adj" fmla="val 10256"/>
            </a:avLst>
          </a:prstGeom>
          <a:solidFill>
            <a:srgbClr val="0D1A2A"/>
          </a:solidFill>
          <a:ln w="15875">
            <a:solidFill>
              <a:srgbClr val="39D9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4562856"/>
            <a:ext cx="1170432" cy="256032"/>
          </a:xfrm>
          <a:prstGeom prst="roundRect">
            <a:avLst>
              <a:gd name="adj" fmla="val 42857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45628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708392" y="4553712"/>
            <a:ext cx="3493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Observabilidad y rendimiento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08392" y="48920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pruebas de carga, monitorización y resiliencia.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78992" y="5797296"/>
            <a:ext cx="10040112" cy="356616"/>
          </a:xfrm>
          <a:prstGeom prst="roundRect">
            <a:avLst>
              <a:gd name="adj" fmla="val 30769"/>
            </a:avLst>
          </a:prstGeom>
          <a:solidFill>
            <a:srgbClr val="132D43"/>
          </a:solidFill>
          <a:ln w="12700">
            <a:solidFill>
              <a:srgbClr val="35D0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98448" y="5806440"/>
            <a:ext cx="9601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D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evolucionar el MVP hacia una plataforma más completa, fiable y escalable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F82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Proyecto Final TFM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Gobernanza para Agentes de Voz</dc:title>
  <dc:subject>TFM — Plataforma de Gobernanza para Agentes de Voz</dc:subject>
  <dc:creator>Adrián Domínguez</dc:creator>
  <cp:lastModifiedBy>Adrián Domínguez</cp:lastModifiedBy>
  <cp:revision>1</cp:revision>
  <dcterms:created xsi:type="dcterms:W3CDTF">2026-07-17T16:16:38Z</dcterms:created>
  <dcterms:modified xsi:type="dcterms:W3CDTF">2026-07-17T16:16:38Z</dcterms:modified>
</cp:coreProperties>
</file>